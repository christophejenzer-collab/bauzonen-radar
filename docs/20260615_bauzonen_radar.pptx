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3" r:id="rId3"/>
    <p:sldId id="266" r:id="rId4"/>
    <p:sldId id="267" r:id="rId5"/>
    <p:sldId id="268" r:id="rId6"/>
    <p:sldId id="260" r:id="rId7"/>
    <p:sldId id="261" r:id="rId8"/>
    <p:sldId id="258" r:id="rId9"/>
    <p:sldId id="269" r:id="rId10"/>
    <p:sldId id="259" r:id="rId11"/>
    <p:sldId id="264" r:id="rId12"/>
    <p:sldId id="265" r:id="rId13"/>
    <p:sldId id="257" r:id="rId14"/>
    <p:sldId id="262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5412" autoAdjust="0"/>
  </p:normalViewPr>
  <p:slideViewPr>
    <p:cSldViewPr snapToGrid="0" snapToObjects="1">
      <p:cViewPr>
        <p:scale>
          <a:sx n="100" d="100"/>
          <a:sy n="100" d="100"/>
        </p:scale>
        <p:origin x="183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6575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Architekturbüro</a:t>
            </a:r>
            <a:r>
              <a:rPr lang="en-US" dirty="0"/>
              <a:t> Zeit </a:t>
            </a:r>
            <a:r>
              <a:rPr lang="en-US" dirty="0" err="1"/>
              <a:t>Aufwand</a:t>
            </a:r>
            <a:r>
              <a:rPr lang="en-US" dirty="0"/>
              <a:t> </a:t>
            </a:r>
            <a:r>
              <a:rPr lang="en-US" dirty="0" err="1"/>
              <a:t>Neugeschäfte</a:t>
            </a:r>
            <a:r>
              <a:rPr lang="en-US" dirty="0"/>
              <a:t>, </a:t>
            </a:r>
            <a:r>
              <a:rPr lang="en-US" dirty="0" err="1"/>
              <a:t>Verdichtung</a:t>
            </a:r>
            <a:r>
              <a:rPr lang="en-US" dirty="0"/>
              <a:t>, </a:t>
            </a:r>
            <a:r>
              <a:rPr lang="en-US" dirty="0" err="1"/>
              <a:t>Ersatzneubau</a:t>
            </a:r>
            <a:r>
              <a:rPr lang="en-US" dirty="0"/>
              <a:t>. Finden schnell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de-CH" dirty="0"/>
              <a:t>Christophe CLI: Beispiel </a:t>
            </a:r>
            <a:r>
              <a:rPr lang="de-CH" dirty="0" err="1"/>
              <a:t>Pfeuti</a:t>
            </a:r>
            <a:r>
              <a:rPr lang="de-CH" dirty="0"/>
              <a:t> </a:t>
            </a:r>
            <a:r>
              <a:rPr lang="de-CH" dirty="0" err="1"/>
              <a:t>Powershell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1072194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dirty="0"/>
              <a:t>Fabienne Frontend: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Parz 4210: WA3, 856 m², leer</a:t>
            </a:r>
            <a:endParaRPr lang="de-CH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Parz 4208: WA3, 1019 m², leer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824646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>
                <a:solidFill>
                  <a:srgbClr val="6B6B6B"/>
                </a:solidFill>
              </a:defRPr>
            </a:pPr>
            <a:r>
              <a:rPr lang="de-CH" dirty="0"/>
              <a:t>Fabienne Frontend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>
                <a:solidFill>
                  <a:srgbClr val="6B6B6B"/>
                </a:solidFill>
              </a:defRPr>
            </a:pPr>
            <a:r>
              <a:rPr lang="de-CH" dirty="0"/>
              <a:t>Tool zeigt zusätzlich:</a:t>
            </a:r>
          </a:p>
          <a:p>
            <a:pPr>
              <a:defRPr sz="1000" b="0" i="0">
                <a:solidFill>
                  <a:srgbClr val="6B6B6B"/>
                </a:solidFill>
              </a:defRPr>
            </a:pPr>
            <a:r>
              <a:rPr lang="de-DE" dirty="0"/>
              <a:t>• Archäologisches Schutzgebiet</a:t>
            </a:r>
          </a:p>
          <a:p>
            <a:pPr>
              <a:defRPr sz="1000" b="0" i="0">
                <a:solidFill>
                  <a:srgbClr val="6B6B6B"/>
                </a:solidFill>
              </a:defRPr>
            </a:pPr>
            <a:r>
              <a:rPr lang="de-DE" dirty="0"/>
              <a:t>• </a:t>
            </a:r>
            <a:r>
              <a:rPr lang="de-DE" dirty="0" err="1"/>
              <a:t>Strassenraumzone</a:t>
            </a:r>
            <a:r>
              <a:rPr lang="de-DE" dirty="0"/>
              <a:t> + Baulinie</a:t>
            </a:r>
          </a:p>
          <a:p>
            <a:pPr>
              <a:defRPr sz="1000" b="0" i="0">
                <a:solidFill>
                  <a:srgbClr val="6B6B6B"/>
                </a:solidFill>
              </a:defRPr>
            </a:pPr>
            <a:r>
              <a:rPr lang="de-DE" dirty="0"/>
              <a:t>• Naturgefahr </a:t>
            </a:r>
            <a:r>
              <a:rPr lang="de-DE" dirty="0" err="1"/>
              <a:t>Grundwasseraufstoss</a:t>
            </a:r>
            <a:endParaRPr lang="de-DE" dirty="0"/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79401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Christophe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Fabienne</a:t>
            </a:r>
          </a:p>
          <a:p>
            <a:r>
              <a:rPr lang="en-US" dirty="0"/>
              <a:t>EHRLICHKEIT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Fabienne</a:t>
            </a:r>
          </a:p>
          <a:p>
            <a:r>
              <a:rPr lang="en-US" dirty="0"/>
              <a:t>KORREKT und Mehr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de-CH" dirty="0"/>
              <a:t>Christophe </a:t>
            </a:r>
          </a:p>
          <a:p>
            <a:r>
              <a:rPr lang="de-CH" dirty="0" err="1"/>
              <a:t>Geili</a:t>
            </a:r>
            <a:r>
              <a:rPr lang="de-CH" dirty="0"/>
              <a:t> Sieche</a:t>
            </a:r>
          </a:p>
        </p:txBody>
      </p:sp>
    </p:spTree>
    <p:extLst>
      <p:ext uri="{BB962C8B-B14F-4D97-AF65-F5344CB8AC3E}">
        <p14:creationId xmlns:p14="http://schemas.microsoft.com/office/powerpoint/2010/main" val="33055566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Gegenseitig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Fabienne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Abschluss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594360" y="118872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Bauzonen-Radar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94360" y="23317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Analysewerkzeug für ungenutztes Bebauungspotenzial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Kanton Bern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3154680"/>
            <a:ext cx="3200400" cy="0"/>
          </a:xfrm>
          <a:prstGeom prst="line">
            <a:avLst/>
          </a:prstGeom>
          <a:noFill/>
          <a:ln w="1905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594360" y="33832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Fabienne Schmid</a:t>
            </a:r>
            <a:r>
              <a:rPr lang="en-US" sz="1300" dirty="0"/>
              <a:t>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Christophe Jenzer </a:t>
            </a:r>
          </a:p>
          <a:p>
            <a:r>
              <a:rPr lang="en-US" sz="13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Juni 2026  ·  OOP und Softwarearchitektur  ·  </a:t>
            </a:r>
            <a:r>
              <a:rPr lang="en-US" sz="1300" dirty="0" err="1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feusi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6222" y="274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1A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40" y="179125"/>
            <a:ext cx="223086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</a:defRPr>
            </a:pPr>
            <a:r>
              <a:rPr sz="2800" dirty="0">
                <a:solidFill>
                  <a:schemeClr val="bg1"/>
                </a:solidFill>
              </a:rPr>
              <a:t>Drei </a:t>
            </a:r>
            <a:r>
              <a:rPr lang="de-CH" sz="2800" dirty="0">
                <a:solidFill>
                  <a:schemeClr val="bg1"/>
                </a:solidFill>
              </a:rPr>
              <a:t>Beispiele</a:t>
            </a:r>
            <a:endParaRPr sz="2800" dirty="0">
              <a:solidFill>
                <a:schemeClr val="bg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3351" y="892765"/>
            <a:ext cx="2697480" cy="39319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5292" y="972230"/>
            <a:ext cx="2514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rPr dirty="0"/>
              <a:t>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5292" y="1612310"/>
            <a:ext cx="2514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C81D25"/>
                </a:solidFill>
              </a:defRPr>
            </a:pPr>
            <a:r>
              <a:t>VERDICHTUNG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4791" y="1932350"/>
            <a:ext cx="2514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B6B6B"/>
                </a:solidFill>
              </a:defRPr>
            </a:pPr>
            <a:r>
              <a:rPr dirty="0" err="1"/>
              <a:t>geerbtes</a:t>
            </a:r>
            <a:r>
              <a:rPr dirty="0"/>
              <a:t> EFH von 1965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1052" y="2983910"/>
            <a:ext cx="178308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24085" y="3808002"/>
            <a:ext cx="137505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rPr dirty="0"/>
              <a:t>L</a:t>
            </a:r>
            <a:r>
              <a:rPr lang="de-CH" dirty="0"/>
              <a:t>on</a:t>
            </a:r>
            <a:r>
              <a:rPr dirty="0" err="1"/>
              <a:t>tschenenweg</a:t>
            </a:r>
            <a:r>
              <a:rPr dirty="0"/>
              <a:t>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5292" y="403547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rPr dirty="0"/>
              <a:t>3608 Thun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414" y="4223549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B6B"/>
                </a:solidFill>
              </a:defRPr>
            </a:pPr>
            <a:r>
              <a:t>Wohnen W3, 643 m²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14" y="4497869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C81D25"/>
                </a:solidFill>
              </a:defRPr>
            </a:pPr>
            <a:r>
              <a:t>Reserve 345 m² (68%)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00769" y="892765"/>
            <a:ext cx="2697480" cy="39319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47655" y="948010"/>
            <a:ext cx="2514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rPr dirty="0"/>
              <a:t>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5652" y="1612310"/>
            <a:ext cx="2514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C81D25"/>
                </a:solidFill>
              </a:defRPr>
            </a:pPr>
            <a:r>
              <a:t>NEUGESCHÄFT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47655" y="1940449"/>
            <a:ext cx="2514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B6B6B"/>
                </a:solidFill>
              </a:defRPr>
            </a:pPr>
            <a:r>
              <a:rPr dirty="0" err="1"/>
              <a:t>verliebt</a:t>
            </a:r>
            <a:r>
              <a:rPr dirty="0"/>
              <a:t> in </a:t>
            </a:r>
            <a:r>
              <a:rPr dirty="0" err="1"/>
              <a:t>Bauland</a:t>
            </a:r>
            <a:endParaRPr dirty="0"/>
          </a:p>
        </p:txBody>
      </p:sp>
      <p:sp>
        <p:nvSpPr>
          <p:cNvPr id="22" name="Rectangle 21"/>
          <p:cNvSpPr/>
          <p:nvPr/>
        </p:nvSpPr>
        <p:spPr>
          <a:xfrm>
            <a:off x="3781412" y="2983910"/>
            <a:ext cx="178308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34674" y="3808002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Rüttiweg-Umgebung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5652" y="403547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3608 Thun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8774" y="4223549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B6B"/>
                </a:solidFill>
              </a:defRPr>
            </a:pPr>
            <a:r>
              <a:t>Wohnen W3, 2597 m² leer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8774" y="4497869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C81D25"/>
                </a:solidFill>
              </a:defRPr>
            </a:pPr>
            <a:r>
              <a:t>Reserve 1080 m² (100%)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4572" y="892765"/>
            <a:ext cx="2697480" cy="39319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67420" y="921203"/>
            <a:ext cx="2514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rPr dirty="0"/>
              <a:t>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6012" y="1612310"/>
            <a:ext cx="2514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C81D25"/>
                </a:solidFill>
              </a:defRPr>
            </a:pPr>
            <a:r>
              <a:t>ERSATZNEUBAU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6012" y="1932350"/>
            <a:ext cx="2514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B6B6B"/>
                </a:solidFill>
              </a:defRPr>
            </a:pPr>
            <a:r>
              <a:rPr dirty="0"/>
              <a:t>125 Jahre </a:t>
            </a:r>
            <a:r>
              <a:rPr dirty="0" err="1"/>
              <a:t>alte</a:t>
            </a:r>
            <a:r>
              <a:rPr dirty="0"/>
              <a:t> </a:t>
            </a:r>
            <a:r>
              <a:rPr dirty="0" err="1"/>
              <a:t>Substanz</a:t>
            </a:r>
            <a:endParaRPr dirty="0"/>
          </a:p>
        </p:txBody>
      </p:sp>
      <p:sp>
        <p:nvSpPr>
          <p:cNvPr id="33" name="Rectangle 32"/>
          <p:cNvSpPr/>
          <p:nvPr/>
        </p:nvSpPr>
        <p:spPr>
          <a:xfrm>
            <a:off x="6661772" y="2983910"/>
            <a:ext cx="1783080" cy="127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15034" y="3808002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rPr dirty="0" err="1"/>
              <a:t>Frutigenstrasse</a:t>
            </a:r>
            <a:r>
              <a:rPr dirty="0"/>
              <a:t> 74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6012" y="403547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3608 Thun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9134" y="4223549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B6B"/>
                </a:solidFill>
              </a:defRPr>
            </a:pPr>
            <a:r>
              <a:t>WA4, 1465 m²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9134" y="4497869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C81D25"/>
                </a:solidFill>
              </a:defRPr>
            </a:pPr>
            <a:r>
              <a:t>Reserve 1233 m² (78%)</a:t>
            </a:r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BB0A49BB-2162-BE3C-4ACE-28806F0A2832}"/>
              </a:ext>
            </a:extLst>
          </p:cNvPr>
          <p:cNvSpPr/>
          <p:nvPr/>
        </p:nvSpPr>
        <p:spPr>
          <a:xfrm>
            <a:off x="8385602" y="4714359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6" name="Shape 0">
            <a:extLst>
              <a:ext uri="{FF2B5EF4-FFF2-40B4-BE49-F238E27FC236}">
                <a16:creationId xmlns:a16="http://schemas.microsoft.com/office/drawing/2014/main" id="{1E4A4A35-395E-50BD-2146-A5873EBB66F3}"/>
              </a:ext>
            </a:extLst>
          </p:cNvPr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47" name="Grafik 46">
            <a:extLst>
              <a:ext uri="{FF2B5EF4-FFF2-40B4-BE49-F238E27FC236}">
                <a16:creationId xmlns:a16="http://schemas.microsoft.com/office/drawing/2014/main" id="{4142F51C-AD40-4677-A393-A84393B010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75" t="11630" r="15382" b="16807"/>
          <a:stretch>
            <a:fillRect/>
          </a:stretch>
        </p:blipFill>
        <p:spPr>
          <a:xfrm>
            <a:off x="805867" y="2405144"/>
            <a:ext cx="2089324" cy="1322236"/>
          </a:xfrm>
          <a:prstGeom prst="rect">
            <a:avLst/>
          </a:prstGeom>
        </p:spPr>
      </p:pic>
      <p:pic>
        <p:nvPicPr>
          <p:cNvPr id="48" name="Grafik 47">
            <a:extLst>
              <a:ext uri="{FF2B5EF4-FFF2-40B4-BE49-F238E27FC236}">
                <a16:creationId xmlns:a16="http://schemas.microsoft.com/office/drawing/2014/main" id="{97DD4FAB-CCCC-4F05-C7C7-735E07CA02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734" t="1810" r="14232" b="-360"/>
          <a:stretch>
            <a:fillRect/>
          </a:stretch>
        </p:blipFill>
        <p:spPr>
          <a:xfrm>
            <a:off x="3615079" y="2399075"/>
            <a:ext cx="2105415" cy="1291971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91A2AF53-3C82-E900-FB50-9D1733F70C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687" y="2377732"/>
            <a:ext cx="2069294" cy="13346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10" grpId="0"/>
      <p:bldP spid="11" grpId="0" animBg="1"/>
      <p:bldP spid="13" grpId="0"/>
      <p:bldP spid="14" grpId="0"/>
      <p:bldP spid="15" grpId="0"/>
      <p:bldP spid="16" grpId="0"/>
      <p:bldP spid="17" grpId="0" animBg="1"/>
      <p:bldP spid="18" grpId="0"/>
      <p:bldP spid="19" grpId="0"/>
      <p:bldP spid="21" grpId="0"/>
      <p:bldP spid="22" grpId="0" animBg="1"/>
      <p:bldP spid="24" grpId="0"/>
      <p:bldP spid="25" grpId="0"/>
      <p:bldP spid="26" grpId="0"/>
      <p:bldP spid="27" grpId="0"/>
      <p:bldP spid="28" grpId="0" animBg="1"/>
      <p:bldP spid="29" grpId="0"/>
      <p:bldP spid="30" grpId="0"/>
      <p:bldP spid="32" grpId="0"/>
      <p:bldP spid="33" grpId="0" animBg="1"/>
      <p:bldP spid="35" grpId="0"/>
      <p:bldP spid="36" grpId="0"/>
      <p:bldP spid="37" grpId="0"/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AE031978-2B38-4053-8B04-3EF266CCD7A1}"/>
              </a:ext>
            </a:extLst>
          </p:cNvPr>
          <p:cNvSpPr/>
          <p:nvPr/>
        </p:nvSpPr>
        <p:spPr>
          <a:xfrm>
            <a:off x="417830" y="998130"/>
            <a:ext cx="3048000" cy="50800"/>
          </a:xfrm>
          <a:prstGeom prst="roundRect">
            <a:avLst/>
          </a:prstGeom>
          <a:solidFill>
            <a:srgbClr val="C81D2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CH"/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0B0FF528-E77F-4FDD-A61E-ADAD33D92B59}"/>
              </a:ext>
            </a:extLst>
          </p:cNvPr>
          <p:cNvSpPr/>
          <p:nvPr/>
        </p:nvSpPr>
        <p:spPr>
          <a:xfrm>
            <a:off x="4408170" y="3848091"/>
            <a:ext cx="4318000" cy="588547"/>
          </a:xfrm>
          <a:prstGeom prst="roundRect">
            <a:avLst/>
          </a:prstGeom>
          <a:solidFill>
            <a:srgbClr val="F3F3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CH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0CC8122F-FAF3-48A9-9ABB-16046B902341}"/>
              </a:ext>
            </a:extLst>
          </p:cNvPr>
          <p:cNvSpPr/>
          <p:nvPr/>
        </p:nvSpPr>
        <p:spPr>
          <a:xfrm>
            <a:off x="4408170" y="2245827"/>
            <a:ext cx="4318000" cy="1422400"/>
          </a:xfrm>
          <a:prstGeom prst="roundRect">
            <a:avLst/>
          </a:prstGeom>
          <a:solidFill>
            <a:srgbClr val="FBEA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CH"/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001AB483-9EAE-4D03-AD08-4EB35D22F18F}"/>
              </a:ext>
            </a:extLst>
          </p:cNvPr>
          <p:cNvSpPr/>
          <p:nvPr/>
        </p:nvSpPr>
        <p:spPr>
          <a:xfrm>
            <a:off x="4408170" y="845414"/>
            <a:ext cx="4318000" cy="1219200"/>
          </a:xfrm>
          <a:prstGeom prst="roundRect">
            <a:avLst/>
          </a:prstGeom>
          <a:solidFill>
            <a:srgbClr val="F3F3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CH"/>
          </a:p>
        </p:txBody>
      </p:sp>
      <p:sp>
        <p:nvSpPr>
          <p:cNvPr id="4" name="TextBox 3"/>
          <p:cNvSpPr txBox="1"/>
          <p:nvPr/>
        </p:nvSpPr>
        <p:spPr>
          <a:xfrm>
            <a:off x="365760" y="209788"/>
            <a:ext cx="85953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1A1A1A"/>
                </a:solidFill>
              </a:defRPr>
            </a:pPr>
            <a:r>
              <a:rPr lang="de-CH" sz="2800" dirty="0"/>
              <a:t>Herr Michael </a:t>
            </a:r>
            <a:r>
              <a:rPr lang="de-CH" sz="2800" dirty="0" err="1"/>
              <a:t>Pfeuti</a:t>
            </a:r>
            <a:endParaRPr lang="de-CH" sz="2800" dirty="0"/>
          </a:p>
          <a:p>
            <a:pPr>
              <a:defRPr sz="2400" b="1" i="0">
                <a:solidFill>
                  <a:srgbClr val="1A1A1A"/>
                </a:solidFill>
              </a:defRPr>
            </a:pPr>
            <a:r>
              <a:rPr sz="1600" dirty="0" err="1"/>
              <a:t>Verdichtung</a:t>
            </a:r>
            <a:r>
              <a:rPr sz="1600" dirty="0"/>
              <a:t> am L</a:t>
            </a:r>
            <a:r>
              <a:rPr lang="de-CH" sz="1600" dirty="0"/>
              <a:t>on</a:t>
            </a:r>
            <a:r>
              <a:rPr sz="1600" dirty="0" err="1"/>
              <a:t>tschenenweg</a:t>
            </a:r>
            <a:r>
              <a:rPr sz="1600" dirty="0"/>
              <a:t>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928937"/>
            <a:ext cx="411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6B6B6B"/>
                </a:solidFill>
              </a:defRPr>
            </a:pPr>
            <a:r>
              <a:rPr lang="de-CH" sz="1100" dirty="0"/>
              <a:t>PARZELLE 3216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294697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1A1A1A"/>
                </a:solidFill>
              </a:defRPr>
            </a:pPr>
            <a:r>
              <a:t>Parzelle 643 m²  ·  Wohnen W3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60457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1A1A1A"/>
                </a:solidFill>
              </a:defRPr>
            </a:pPr>
            <a:r>
              <a:rPr dirty="0" err="1"/>
              <a:t>Baujahr</a:t>
            </a:r>
            <a:r>
              <a:rPr dirty="0"/>
              <a:t> 1965  ·  2 </a:t>
            </a:r>
            <a:r>
              <a:rPr dirty="0" err="1"/>
              <a:t>Wohnungen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572000" y="233951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6B6B6B"/>
                </a:solidFill>
              </a:defRPr>
            </a:pPr>
            <a:r>
              <a:t>Reserve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1383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 i="0">
                <a:solidFill>
                  <a:srgbClr val="C81D25"/>
                </a:solidFill>
              </a:defRPr>
            </a:pPr>
            <a:r>
              <a:t>345 m²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25391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6B6B6B"/>
                </a:solidFill>
              </a:defRPr>
            </a:pPr>
            <a:r>
              <a:t>= 68% des Zulässigen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0090" y="400761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1A1A1A"/>
                </a:solidFill>
              </a:defRPr>
            </a:pPr>
            <a:r>
              <a:rPr dirty="0" err="1"/>
              <a:t>Klassifikation</a:t>
            </a:r>
            <a:r>
              <a:rPr dirty="0"/>
              <a:t>:  VERDICHTUNG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471" y="4729533"/>
            <a:ext cx="8595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1">
                <a:solidFill>
                  <a:srgbClr val="C81D25"/>
                </a:solidFill>
              </a:defRPr>
            </a:pPr>
            <a:r>
              <a:rPr b="1" dirty="0"/>
              <a:t>→ </a:t>
            </a:r>
            <a:r>
              <a:rPr b="1" dirty="0" err="1"/>
              <a:t>Empfehlung</a:t>
            </a:r>
            <a:r>
              <a:rPr b="1" dirty="0"/>
              <a:t>: </a:t>
            </a:r>
            <a:r>
              <a:rPr b="1" dirty="0" err="1"/>
              <a:t>Aufstockung</a:t>
            </a:r>
            <a:r>
              <a:rPr b="1" dirty="0"/>
              <a:t>/</a:t>
            </a:r>
            <a:r>
              <a:rPr b="1" dirty="0" err="1"/>
              <a:t>Anbau</a:t>
            </a:r>
            <a:r>
              <a:rPr b="1" dirty="0"/>
              <a:t> </a:t>
            </a:r>
            <a:r>
              <a:rPr b="1" dirty="0" err="1"/>
              <a:t>prüfen</a:t>
            </a:r>
            <a:r>
              <a:rPr b="1" dirty="0"/>
              <a:t>, </a:t>
            </a:r>
            <a:r>
              <a:rPr b="1" dirty="0" err="1"/>
              <a:t>Detailplanung</a:t>
            </a:r>
            <a:r>
              <a:rPr b="1" dirty="0"/>
              <a:t> </a:t>
            </a:r>
            <a:r>
              <a:rPr b="1" dirty="0" err="1"/>
              <a:t>mit</a:t>
            </a:r>
            <a:r>
              <a:rPr b="1" dirty="0"/>
              <a:t> Architekt</a:t>
            </a: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22D9E5B7-9F13-ACB2-9D1D-BA8A346CE9F2}"/>
              </a:ext>
            </a:extLst>
          </p:cNvPr>
          <p:cNvSpPr/>
          <p:nvPr/>
        </p:nvSpPr>
        <p:spPr>
          <a:xfrm>
            <a:off x="841248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5A7666EC-0CB3-8C08-D5B1-38FB44502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30" y="1213280"/>
            <a:ext cx="3299453" cy="3238354"/>
          </a:xfrm>
          <a:prstGeom prst="rect">
            <a:avLst/>
          </a:prstGeom>
        </p:spPr>
      </p:pic>
      <p:sp>
        <p:nvSpPr>
          <p:cNvPr id="24" name="Shape 0">
            <a:extLst>
              <a:ext uri="{FF2B5EF4-FFF2-40B4-BE49-F238E27FC236}">
                <a16:creationId xmlns:a16="http://schemas.microsoft.com/office/drawing/2014/main" id="{EEBB0590-5960-7DDA-CC32-E1235DC5B843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EB79430D-CEE0-4687-B60F-517BDF1A6A00}"/>
              </a:ext>
            </a:extLst>
          </p:cNvPr>
          <p:cNvSpPr/>
          <p:nvPr/>
        </p:nvSpPr>
        <p:spPr>
          <a:xfrm>
            <a:off x="419100" y="965459"/>
            <a:ext cx="3048000" cy="50800"/>
          </a:xfrm>
          <a:prstGeom prst="roundRect">
            <a:avLst/>
          </a:prstGeom>
          <a:solidFill>
            <a:srgbClr val="C81D2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CH"/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1B9A8C61-1B2E-4D5F-9ADE-1C9C791513DE}"/>
              </a:ext>
            </a:extLst>
          </p:cNvPr>
          <p:cNvSpPr/>
          <p:nvPr/>
        </p:nvSpPr>
        <p:spPr>
          <a:xfrm>
            <a:off x="4692015" y="3599989"/>
            <a:ext cx="3711575" cy="630615"/>
          </a:xfrm>
          <a:prstGeom prst="roundRect">
            <a:avLst/>
          </a:prstGeom>
          <a:solidFill>
            <a:srgbClr val="F3F3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CH"/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03B90AE0-2718-4B04-AE6D-47A3731A9E67}"/>
              </a:ext>
            </a:extLst>
          </p:cNvPr>
          <p:cNvSpPr/>
          <p:nvPr/>
        </p:nvSpPr>
        <p:spPr>
          <a:xfrm>
            <a:off x="4657090" y="2059378"/>
            <a:ext cx="3746500" cy="1422400"/>
          </a:xfrm>
          <a:prstGeom prst="roundRect">
            <a:avLst/>
          </a:prstGeom>
          <a:solidFill>
            <a:srgbClr val="FBEA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CH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3B4B191B-7CDC-42C9-9108-76DDDBCA063D}"/>
              </a:ext>
            </a:extLst>
          </p:cNvPr>
          <p:cNvSpPr/>
          <p:nvPr/>
        </p:nvSpPr>
        <p:spPr>
          <a:xfrm>
            <a:off x="4657090" y="1062021"/>
            <a:ext cx="3746500" cy="889000"/>
          </a:xfrm>
          <a:prstGeom prst="roundRect">
            <a:avLst/>
          </a:prstGeom>
          <a:solidFill>
            <a:srgbClr val="F3F3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CH"/>
          </a:p>
        </p:txBody>
      </p:sp>
      <p:sp>
        <p:nvSpPr>
          <p:cNvPr id="4" name="TextBox 3"/>
          <p:cNvSpPr txBox="1"/>
          <p:nvPr/>
        </p:nvSpPr>
        <p:spPr>
          <a:xfrm>
            <a:off x="328295" y="195878"/>
            <a:ext cx="8229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1A1A1A"/>
                </a:solidFill>
              </a:defRPr>
            </a:pPr>
            <a:r>
              <a:rPr lang="de-CH" sz="2800" dirty="0"/>
              <a:t>Herr Marc Pfister</a:t>
            </a:r>
          </a:p>
          <a:p>
            <a:pPr>
              <a:defRPr sz="2400" b="1" i="0">
                <a:solidFill>
                  <a:srgbClr val="1A1A1A"/>
                </a:solidFill>
              </a:defRPr>
            </a:pPr>
            <a:r>
              <a:rPr sz="1600" dirty="0" err="1"/>
              <a:t>Bauland</a:t>
            </a:r>
            <a:r>
              <a:rPr lang="de-CH" sz="1600" dirty="0"/>
              <a:t> - </a:t>
            </a:r>
            <a:r>
              <a:rPr sz="1600" dirty="0" err="1"/>
              <a:t>Nachbarschaft</a:t>
            </a:r>
            <a:r>
              <a:rPr sz="1600" dirty="0"/>
              <a:t> am </a:t>
            </a:r>
            <a:r>
              <a:rPr sz="1600" dirty="0" err="1"/>
              <a:t>Rüttiweg</a:t>
            </a:r>
            <a:endParaRPr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4811395" y="1154250"/>
            <a:ext cx="411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6B6B6B"/>
                </a:solidFill>
              </a:defRPr>
            </a:pPr>
            <a:r>
              <a:rPr sz="1100" dirty="0"/>
              <a:t>PARZELLE 4204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1395" y="1520010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1A1A1A"/>
                </a:solidFill>
              </a:defRPr>
            </a:pPr>
            <a:r>
              <a:rPr dirty="0" err="1"/>
              <a:t>Wohnen</a:t>
            </a:r>
            <a:r>
              <a:rPr dirty="0"/>
              <a:t> W3  ·  2597 m²</a:t>
            </a:r>
            <a:r>
              <a:rPr lang="de-CH" dirty="0"/>
              <a:t> Bauland</a:t>
            </a:r>
            <a:r>
              <a:rPr dirty="0"/>
              <a:t>  </a:t>
            </a:r>
            <a:endParaRPr lang="de-CH" dirty="0"/>
          </a:p>
        </p:txBody>
      </p:sp>
      <p:sp>
        <p:nvSpPr>
          <p:cNvPr id="8" name="TextBox 7"/>
          <p:cNvSpPr txBox="1"/>
          <p:nvPr/>
        </p:nvSpPr>
        <p:spPr>
          <a:xfrm>
            <a:off x="4811395" y="2126207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6B6B6B"/>
                </a:solidFill>
              </a:defRPr>
            </a:pPr>
            <a:r>
              <a:t>Reserve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11395" y="2400527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 i="0">
                <a:solidFill>
                  <a:srgbClr val="C81D25"/>
                </a:solidFill>
              </a:defRPr>
            </a:pPr>
            <a:r>
              <a:rPr dirty="0"/>
              <a:t>1080 m²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1395" y="3040607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6B6B6B"/>
                </a:solidFill>
              </a:defRPr>
            </a:pPr>
            <a:r>
              <a:t>= 100% leeres Bauland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774022"/>
            <a:ext cx="2316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1A1A1A"/>
                </a:solidFill>
              </a:defRPr>
            </a:pPr>
            <a:r>
              <a:rPr dirty="0" err="1"/>
              <a:t>Klassifikation</a:t>
            </a:r>
            <a:r>
              <a:rPr dirty="0"/>
              <a:t>:  NEUGESCHÄFT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415" y="4638859"/>
            <a:ext cx="8595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1">
                <a:solidFill>
                  <a:srgbClr val="C81D25"/>
                </a:solidFill>
              </a:defRPr>
            </a:pPr>
            <a:r>
              <a:rPr b="1" dirty="0"/>
              <a:t>→ </a:t>
            </a:r>
            <a:r>
              <a:rPr b="1" dirty="0" err="1"/>
              <a:t>Empfehlung</a:t>
            </a:r>
            <a:r>
              <a:rPr b="1" dirty="0"/>
              <a:t>: </a:t>
            </a:r>
            <a:r>
              <a:rPr b="1" dirty="0" err="1"/>
              <a:t>Vorprojekt</a:t>
            </a:r>
            <a:r>
              <a:rPr b="1" dirty="0"/>
              <a:t> </a:t>
            </a:r>
            <a:r>
              <a:rPr b="1" dirty="0" err="1"/>
              <a:t>mit</a:t>
            </a:r>
            <a:r>
              <a:rPr b="1" dirty="0"/>
              <a:t> Architekt - </a:t>
            </a:r>
            <a:r>
              <a:rPr b="1" dirty="0" err="1"/>
              <a:t>ganze</a:t>
            </a:r>
            <a:r>
              <a:rPr b="1" dirty="0"/>
              <a:t> </a:t>
            </a:r>
            <a:r>
              <a:rPr b="1" dirty="0" err="1"/>
              <a:t>Nachbarschaft</a:t>
            </a:r>
            <a:r>
              <a:rPr b="1" dirty="0"/>
              <a:t> </a:t>
            </a:r>
            <a:r>
              <a:rPr b="1" dirty="0" err="1"/>
              <a:t>betrachten</a:t>
            </a:r>
            <a:endParaRPr b="1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8AB68DFC-01C6-6282-631A-7636F7059B2B}"/>
              </a:ext>
            </a:extLst>
          </p:cNvPr>
          <p:cNvSpPr/>
          <p:nvPr/>
        </p:nvSpPr>
        <p:spPr>
          <a:xfrm>
            <a:off x="8377555" y="477735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70612218-2C8E-7C0D-661A-F395133D6A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689" b="14444"/>
          <a:stretch>
            <a:fillRect/>
          </a:stretch>
        </p:blipFill>
        <p:spPr>
          <a:xfrm>
            <a:off x="457200" y="1220386"/>
            <a:ext cx="3394703" cy="3035360"/>
          </a:xfrm>
          <a:prstGeom prst="rect">
            <a:avLst/>
          </a:prstGeom>
        </p:spPr>
      </p:pic>
      <p:sp>
        <p:nvSpPr>
          <p:cNvPr id="25" name="Shape 0">
            <a:extLst>
              <a:ext uri="{FF2B5EF4-FFF2-40B4-BE49-F238E27FC236}">
                <a16:creationId xmlns:a16="http://schemas.microsoft.com/office/drawing/2014/main" id="{94D41CB2-217B-F6D8-5F68-64130CD3D3F9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F12D9D9A-3F20-410E-A2A5-4025FDCA017E}"/>
              </a:ext>
            </a:extLst>
          </p:cNvPr>
          <p:cNvSpPr/>
          <p:nvPr/>
        </p:nvSpPr>
        <p:spPr>
          <a:xfrm>
            <a:off x="463550" y="1020980"/>
            <a:ext cx="3048000" cy="50800"/>
          </a:xfrm>
          <a:prstGeom prst="roundRect">
            <a:avLst/>
          </a:prstGeom>
          <a:solidFill>
            <a:srgbClr val="C81D2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CH"/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8980C524-B593-4431-8614-6E7405F96F57}"/>
              </a:ext>
            </a:extLst>
          </p:cNvPr>
          <p:cNvSpPr/>
          <p:nvPr/>
        </p:nvSpPr>
        <p:spPr>
          <a:xfrm>
            <a:off x="4900295" y="3560627"/>
            <a:ext cx="3614420" cy="827223"/>
          </a:xfrm>
          <a:prstGeom prst="roundRect">
            <a:avLst/>
          </a:prstGeom>
          <a:solidFill>
            <a:srgbClr val="F3F3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CH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AA77030A-0678-4876-871B-F54B3E7A09E2}"/>
              </a:ext>
            </a:extLst>
          </p:cNvPr>
          <p:cNvSpPr/>
          <p:nvPr/>
        </p:nvSpPr>
        <p:spPr>
          <a:xfrm>
            <a:off x="4893945" y="2083141"/>
            <a:ext cx="3614420" cy="1384300"/>
          </a:xfrm>
          <a:prstGeom prst="roundRect">
            <a:avLst/>
          </a:prstGeom>
          <a:solidFill>
            <a:srgbClr val="FBEA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CH"/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8C5F87C1-9322-4C83-A6C8-A9C9FF06A942}"/>
              </a:ext>
            </a:extLst>
          </p:cNvPr>
          <p:cNvSpPr/>
          <p:nvPr/>
        </p:nvSpPr>
        <p:spPr>
          <a:xfrm>
            <a:off x="4900295" y="821555"/>
            <a:ext cx="3608070" cy="1168400"/>
          </a:xfrm>
          <a:prstGeom prst="roundRect">
            <a:avLst/>
          </a:prstGeom>
          <a:solidFill>
            <a:srgbClr val="F3F3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CH"/>
          </a:p>
        </p:txBody>
      </p:sp>
      <p:sp>
        <p:nvSpPr>
          <p:cNvPr id="4" name="TextBox 3"/>
          <p:cNvSpPr txBox="1"/>
          <p:nvPr/>
        </p:nvSpPr>
        <p:spPr>
          <a:xfrm>
            <a:off x="341938" y="226258"/>
            <a:ext cx="8229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1A1A1A"/>
                </a:solidFill>
              </a:defRPr>
            </a:pPr>
            <a:r>
              <a:rPr lang="de-CH" sz="2800" dirty="0"/>
              <a:t>Herr Benjamin Iseli</a:t>
            </a:r>
          </a:p>
          <a:p>
            <a:pPr>
              <a:defRPr sz="2400" b="1" i="0">
                <a:solidFill>
                  <a:srgbClr val="1A1A1A"/>
                </a:solidFill>
              </a:defRPr>
            </a:pPr>
            <a:r>
              <a:rPr sz="1600" dirty="0"/>
              <a:t>125 Jahre </a:t>
            </a:r>
            <a:r>
              <a:rPr sz="1600" dirty="0" err="1"/>
              <a:t>Geschichte</a:t>
            </a:r>
            <a:endParaRPr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5035550" y="924713"/>
            <a:ext cx="411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6B6B6B"/>
                </a:solidFill>
              </a:defRPr>
            </a:pPr>
            <a:r>
              <a:rPr lang="de-CH" sz="1100" dirty="0"/>
              <a:t>PARZELLE 3708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5550" y="1260975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1A1A1A"/>
                </a:solidFill>
              </a:defRPr>
            </a:pPr>
            <a:r>
              <a:t>Wohnen + Arbeiten WA4  ·  1465 m²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5550" y="1626735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1A1A1A"/>
                </a:solidFill>
              </a:defRPr>
            </a:pPr>
            <a:r>
              <a:rPr dirty="0" err="1"/>
              <a:t>Baujahr</a:t>
            </a:r>
            <a:r>
              <a:rPr dirty="0"/>
              <a:t> 1900  ·  3 </a:t>
            </a:r>
            <a:r>
              <a:rPr dirty="0" err="1"/>
              <a:t>Wohnungen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5029200" y="2139021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6B6B6B"/>
                </a:solidFill>
              </a:defRPr>
            </a:pPr>
            <a:r>
              <a:t>Reserve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413341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 i="0">
                <a:solidFill>
                  <a:srgbClr val="C81D25"/>
                </a:solidFill>
              </a:defRPr>
            </a:pPr>
            <a:r>
              <a:t>1233 m²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053421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6B6B6B"/>
                </a:solidFill>
              </a:defRPr>
            </a:pPr>
            <a:r>
              <a:t>= 78% des Zulässigen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938" y="4533126"/>
            <a:ext cx="8595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1">
                <a:solidFill>
                  <a:srgbClr val="C81D25"/>
                </a:solidFill>
              </a:defRPr>
            </a:pPr>
            <a:r>
              <a:rPr b="1" dirty="0"/>
              <a:t>→ </a:t>
            </a:r>
            <a:r>
              <a:rPr b="1" dirty="0" err="1"/>
              <a:t>Empfehlung</a:t>
            </a:r>
            <a:r>
              <a:rPr b="1" dirty="0"/>
              <a:t>: </a:t>
            </a:r>
            <a:r>
              <a:rPr b="1" dirty="0" err="1"/>
              <a:t>Denkmalpflege</a:t>
            </a:r>
            <a:r>
              <a:rPr b="1" dirty="0"/>
              <a:t> </a:t>
            </a:r>
            <a:r>
              <a:rPr b="1" dirty="0" err="1"/>
              <a:t>prüfen</a:t>
            </a:r>
            <a:r>
              <a:rPr b="1" dirty="0"/>
              <a:t> + </a:t>
            </a:r>
            <a:r>
              <a:rPr b="1" dirty="0" err="1"/>
              <a:t>Detailstudie</a:t>
            </a:r>
            <a:r>
              <a:rPr b="1" dirty="0"/>
              <a:t> BEVOR </a:t>
            </a:r>
            <a:r>
              <a:rPr b="1" dirty="0" err="1"/>
              <a:t>Investition</a:t>
            </a:r>
            <a:endParaRPr b="1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31502E97-F72F-B201-0559-0AAC4D9FCD8D}"/>
              </a:ext>
            </a:extLst>
          </p:cNvPr>
          <p:cNvSpPr/>
          <p:nvPr/>
        </p:nvSpPr>
        <p:spPr>
          <a:xfrm>
            <a:off x="8388658" y="4726801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95237DA5-6DF0-7513-ACA5-F05D404FF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50" y="1261730"/>
            <a:ext cx="3608070" cy="2913074"/>
          </a:xfrm>
          <a:prstGeom prst="rect">
            <a:avLst/>
          </a:prstGeom>
        </p:spPr>
      </p:pic>
      <p:sp>
        <p:nvSpPr>
          <p:cNvPr id="24" name="TextBox 13">
            <a:extLst>
              <a:ext uri="{FF2B5EF4-FFF2-40B4-BE49-F238E27FC236}">
                <a16:creationId xmlns:a16="http://schemas.microsoft.com/office/drawing/2014/main" id="{CFB54919-B7A9-79AA-6259-B137ECD8D0ED}"/>
              </a:ext>
            </a:extLst>
          </p:cNvPr>
          <p:cNvSpPr txBox="1"/>
          <p:nvPr/>
        </p:nvSpPr>
        <p:spPr>
          <a:xfrm>
            <a:off x="5119370" y="3834394"/>
            <a:ext cx="2316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1A1A1A"/>
                </a:solidFill>
              </a:defRPr>
            </a:pPr>
            <a:r>
              <a:rPr dirty="0" err="1"/>
              <a:t>Klassifikation</a:t>
            </a:r>
            <a:r>
              <a:rPr dirty="0"/>
              <a:t>:  </a:t>
            </a:r>
            <a:r>
              <a:rPr lang="de-CH" dirty="0"/>
              <a:t>ERSATZNEUBAU</a:t>
            </a:r>
            <a:endParaRPr dirty="0"/>
          </a:p>
        </p:txBody>
      </p:sp>
      <p:sp>
        <p:nvSpPr>
          <p:cNvPr id="25" name="Shape 0">
            <a:extLst>
              <a:ext uri="{FF2B5EF4-FFF2-40B4-BE49-F238E27FC236}">
                <a16:creationId xmlns:a16="http://schemas.microsoft.com/office/drawing/2014/main" id="{F2114F7B-FE90-0573-C62E-DADDF94AEC8E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ea typeface="Trebuchet MS" pitchFamily="34" charset="-122"/>
                <a:cs typeface="Trebuchet MS" pitchFamily="34" charset="-120"/>
              </a:rPr>
              <a:t>Wie ist der Code aufgebaut?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37744" y="868680"/>
            <a:ext cx="1170432" cy="1261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237744" y="94183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237744" y="121615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" y="1536192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swisstopo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SearchAPI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408176" y="1499616"/>
            <a:ext cx="164592" cy="0"/>
          </a:xfrm>
          <a:prstGeom prst="line">
            <a:avLst/>
          </a:prstGeom>
          <a:noFill/>
          <a:ln w="15240">
            <a:solidFill>
              <a:srgbClr val="75757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1490472" y="868680"/>
            <a:ext cx="1170432" cy="1261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1490472" y="94183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1490472" y="121615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OEREB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90472" y="1536192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Kanton Bern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Webservice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660904" y="1499616"/>
            <a:ext cx="164592" cy="0"/>
          </a:xfrm>
          <a:prstGeom prst="line">
            <a:avLst/>
          </a:prstGeom>
          <a:noFill/>
          <a:ln w="15240">
            <a:solidFill>
              <a:srgbClr val="75757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Shape 14"/>
          <p:cNvSpPr/>
          <p:nvPr/>
        </p:nvSpPr>
        <p:spPr>
          <a:xfrm>
            <a:off x="2743200" y="868680"/>
            <a:ext cx="1170432" cy="1261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2743200" y="94183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2743200" y="121615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XML-Parser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1536192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bern.py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Dataclasses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913632" y="1499616"/>
            <a:ext cx="164592" cy="0"/>
          </a:xfrm>
          <a:prstGeom prst="line">
            <a:avLst/>
          </a:prstGeom>
          <a:noFill/>
          <a:ln w="15240">
            <a:solidFill>
              <a:srgbClr val="75757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Shape 19"/>
          <p:cNvSpPr/>
          <p:nvPr/>
        </p:nvSpPr>
        <p:spPr>
          <a:xfrm>
            <a:off x="3995928" y="868680"/>
            <a:ext cx="1170432" cy="1261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 dirty="0"/>
          </a:p>
        </p:txBody>
      </p:sp>
      <p:sp>
        <p:nvSpPr>
          <p:cNvPr id="22" name="Text 20"/>
          <p:cNvSpPr/>
          <p:nvPr/>
        </p:nvSpPr>
        <p:spPr>
          <a:xfrm>
            <a:off x="3995928" y="94183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3995928" y="121615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95928" y="1536192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baureglement.py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166360" y="1499616"/>
            <a:ext cx="164592" cy="0"/>
          </a:xfrm>
          <a:prstGeom prst="line">
            <a:avLst/>
          </a:prstGeom>
          <a:noFill/>
          <a:ln w="15240">
            <a:solidFill>
              <a:srgbClr val="75757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6" name="Shape 24"/>
          <p:cNvSpPr/>
          <p:nvPr/>
        </p:nvSpPr>
        <p:spPr>
          <a:xfrm>
            <a:off x="5248656" y="868680"/>
            <a:ext cx="1170432" cy="1261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7" name="Text 25"/>
          <p:cNvSpPr/>
          <p:nvPr/>
        </p:nvSpPr>
        <p:spPr>
          <a:xfrm>
            <a:off x="5248656" y="94183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5248656" y="121615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BKP-API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48656" y="1536192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bern_bkp.py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ArcGIS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419088" y="1499616"/>
            <a:ext cx="164592" cy="0"/>
          </a:xfrm>
          <a:prstGeom prst="line">
            <a:avLst/>
          </a:prstGeom>
          <a:noFill/>
          <a:ln w="15240">
            <a:solidFill>
              <a:srgbClr val="75757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1" name="Shape 29"/>
          <p:cNvSpPr/>
          <p:nvPr/>
        </p:nvSpPr>
        <p:spPr>
          <a:xfrm>
            <a:off x="6501384" y="868680"/>
            <a:ext cx="1170432" cy="12618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32" name="Text 30"/>
          <p:cNvSpPr/>
          <p:nvPr/>
        </p:nvSpPr>
        <p:spPr>
          <a:xfrm>
            <a:off x="6501384" y="94183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6501384" y="121615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GWR-API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01384" y="1536192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gwr.py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Ist-Bebauung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671816" y="1499616"/>
            <a:ext cx="164592" cy="0"/>
          </a:xfrm>
          <a:prstGeom prst="line">
            <a:avLst/>
          </a:prstGeom>
          <a:noFill/>
          <a:ln w="15240">
            <a:solidFill>
              <a:srgbClr val="75757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6" name="Shape 34"/>
          <p:cNvSpPr/>
          <p:nvPr/>
        </p:nvSpPr>
        <p:spPr>
          <a:xfrm>
            <a:off x="7754112" y="868680"/>
            <a:ext cx="1170432" cy="126187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37" name="Text 35"/>
          <p:cNvSpPr/>
          <p:nvPr/>
        </p:nvSpPr>
        <p:spPr>
          <a:xfrm>
            <a:off x="7754112" y="94183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7754112" y="121615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Potenzial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54112" y="1536192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potenzial.py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Empfehlung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74904" y="22860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OOP-KONZEPTE IM CODE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0040" y="2606039"/>
            <a:ext cx="20574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42" name="Shape 40"/>
          <p:cNvSpPr/>
          <p:nvPr/>
        </p:nvSpPr>
        <p:spPr>
          <a:xfrm>
            <a:off x="320040" y="2606039"/>
            <a:ext cx="205740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3" name="Text 41"/>
          <p:cNvSpPr/>
          <p:nvPr/>
        </p:nvSpPr>
        <p:spPr>
          <a:xfrm>
            <a:off x="429768" y="2670047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Klasse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4" name="Text 42"/>
          <p:cNvSpPr/>
          <p:nvPr/>
        </p:nvSpPr>
        <p:spPr>
          <a:xfrm>
            <a:off x="429768" y="3063239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PotenzialBerechner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29768" y="3410711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Kapselung der gesamten Berechnungslogik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496312" y="2606039"/>
            <a:ext cx="20574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47" name="Shape 45"/>
          <p:cNvSpPr/>
          <p:nvPr/>
        </p:nvSpPr>
        <p:spPr>
          <a:xfrm>
            <a:off x="2496312" y="2606039"/>
            <a:ext cx="205740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8" name="Text 46"/>
          <p:cNvSpPr/>
          <p:nvPr/>
        </p:nvSpPr>
        <p:spPr>
          <a:xfrm>
            <a:off x="2606040" y="2670047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Dataclass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9" name="Text 47"/>
          <p:cNvSpPr/>
          <p:nvPr/>
        </p:nvSpPr>
        <p:spPr>
          <a:xfrm>
            <a:off x="2606040" y="3063239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PotenzialErgebnis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606040" y="3410711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Strukturierter Rückgabe-Container (~30 Felder)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672584" y="2606039"/>
            <a:ext cx="20574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52" name="Shape 50"/>
          <p:cNvSpPr/>
          <p:nvPr/>
        </p:nvSpPr>
        <p:spPr>
          <a:xfrm>
            <a:off x="4672584" y="2606039"/>
            <a:ext cx="205740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3" name="Text 51"/>
          <p:cNvSpPr/>
          <p:nvPr/>
        </p:nvSpPr>
        <p:spPr>
          <a:xfrm>
            <a:off x="4782312" y="2670047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Enum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4" name="Text 52"/>
          <p:cNvSpPr/>
          <p:nvPr/>
        </p:nvSpPr>
        <p:spPr>
          <a:xfrm>
            <a:off x="4782312" y="3063239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Datenqualitaet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782312" y="3410711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Typsichere Zustandsmodellierung (3 Stufen)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848856" y="2606039"/>
            <a:ext cx="20574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57" name="Shape 55"/>
          <p:cNvSpPr/>
          <p:nvPr/>
        </p:nvSpPr>
        <p:spPr>
          <a:xfrm>
            <a:off x="6848856" y="2606039"/>
            <a:ext cx="205740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8" name="Text 56"/>
          <p:cNvSpPr/>
          <p:nvPr/>
        </p:nvSpPr>
        <p:spPr>
          <a:xfrm>
            <a:off x="6958584" y="2670047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@staticmethod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9" name="Text 57"/>
          <p:cNvSpPr/>
          <p:nvPr/>
        </p:nvSpPr>
        <p:spPr>
          <a:xfrm>
            <a:off x="6958584" y="3063239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_zeichne_balken()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958584" y="3410711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Zustandslose Hilfsmethoden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8403336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48056" y="256503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ea typeface="Trebuchet MS" pitchFamily="34" charset="-122"/>
                <a:cs typeface="Trebuchet MS" pitchFamily="34" charset="-120"/>
              </a:rPr>
              <a:t>Kernkonzept: Datenqualität &amp; Empfehlungs-Block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97480" cy="1755648"/>
          </a:xfrm>
          <a:prstGeom prst="rect">
            <a:avLst/>
          </a:prstGeom>
          <a:solidFill>
            <a:srgbClr val="E8F5E9"/>
          </a:solidFill>
          <a:ln w="10160">
            <a:solidFill>
              <a:srgbClr val="2E7D3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594360" y="1188720"/>
            <a:ext cx="2423160" cy="240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VERBINDLICH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536192"/>
            <a:ext cx="2423160" cy="289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oder GFZo vorhanden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1965960"/>
            <a:ext cx="2286000" cy="0"/>
          </a:xfrm>
          <a:prstGeom prst="line">
            <a:avLst/>
          </a:prstGeom>
          <a:noFill/>
          <a:ln w="63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594360" y="2029968"/>
            <a:ext cx="2423160" cy="950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Thunstrasse 40, Bern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Bauklasse E → GFZo 0.5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118 m² exakt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55848" y="1097280"/>
            <a:ext cx="2697480" cy="1755648"/>
          </a:xfrm>
          <a:prstGeom prst="rect">
            <a:avLst/>
          </a:prstGeom>
          <a:solidFill>
            <a:srgbClr val="FFF3E0"/>
          </a:solidFill>
          <a:ln w="10160">
            <a:solidFill>
              <a:srgbClr val="E6510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3493008" y="1188720"/>
            <a:ext cx="2423160" cy="240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GROBSCHÄTZUNG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93008" y="1536192"/>
            <a:ext cx="2423160" cy="289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Höhen-System (kein Flächenmass)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93008" y="1965960"/>
            <a:ext cx="2286000" cy="0"/>
          </a:xfrm>
          <a:prstGeom prst="line">
            <a:avLst/>
          </a:prstGeom>
          <a:noFill/>
          <a:ln w="635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3493008" y="2029968"/>
            <a:ext cx="2423160" cy="950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Frutigenstrasse 25, Thun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Drei-Begrenzer-Logik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1 080 m² (konservativ)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54496" y="1097280"/>
            <a:ext cx="2697480" cy="1755648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6391656" y="1188720"/>
            <a:ext cx="2423160" cy="240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MÖGLICH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91656" y="1536192"/>
            <a:ext cx="2423160" cy="289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Spezialregime / keine Kennzahlen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91656" y="1965960"/>
            <a:ext cx="22860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18"/>
          <p:cNvSpPr/>
          <p:nvPr/>
        </p:nvSpPr>
        <p:spPr>
          <a:xfrm>
            <a:off x="6391656" y="2029968"/>
            <a:ext cx="2423160" cy="950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Kramgasse 1, Bern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UNESCO-Altstadt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Bauverwaltung kontaktieren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31201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EMPFEHLUNG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48056" y="3494661"/>
            <a:ext cx="850392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3" name="Text 21"/>
          <p:cNvSpPr/>
          <p:nvPr/>
        </p:nvSpPr>
        <p:spPr>
          <a:xfrm>
            <a:off x="585216" y="3613533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Ausschöpfung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093976" y="3631821"/>
            <a:ext cx="3840480" cy="20116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5" name="Shape 23"/>
          <p:cNvSpPr/>
          <p:nvPr/>
        </p:nvSpPr>
        <p:spPr>
          <a:xfrm>
            <a:off x="2093976" y="3631821"/>
            <a:ext cx="1536192" cy="20116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6" name="Text 24"/>
          <p:cNvSpPr/>
          <p:nvPr/>
        </p:nvSpPr>
        <p:spPr>
          <a:xfrm>
            <a:off x="6025896" y="3613533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5216" y="3951861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93976" y="3970149"/>
            <a:ext cx="3840480" cy="20116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9" name="Shape 27"/>
          <p:cNvSpPr/>
          <p:nvPr/>
        </p:nvSpPr>
        <p:spPr>
          <a:xfrm>
            <a:off x="2093976" y="3970149"/>
            <a:ext cx="2304288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0" name="Text 28"/>
          <p:cNvSpPr/>
          <p:nvPr/>
        </p:nvSpPr>
        <p:spPr>
          <a:xfrm>
            <a:off x="6025896" y="3951861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93992" y="3768981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HOHES Verdichtungs-Potenzial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548640" cy="204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38328" y="345949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ea typeface="Trebuchet MS" pitchFamily="34" charset="-122"/>
                <a:cs typeface="Trebuchet MS" pitchFamily="34" charset="-120"/>
              </a:rPr>
              <a:t>Projektumfang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38328" y="1216154"/>
            <a:ext cx="2651760" cy="296037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7" name="Shape 5"/>
          <p:cNvSpPr/>
          <p:nvPr/>
        </p:nvSpPr>
        <p:spPr>
          <a:xfrm>
            <a:off x="338328" y="1216154"/>
            <a:ext cx="54864" cy="296037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539496" y="1325882"/>
            <a:ext cx="2331720" cy="180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MINIMALZIEL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496" y="1691641"/>
            <a:ext cx="2331720" cy="2454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zu Parzelle (Geocoding)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OEREB-Datenabruf (1 Gemeinde)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Potenzialberechnung (AZ-System)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Textbericht in der Konsole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4408" y="1216154"/>
            <a:ext cx="2651760" cy="296037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3264408" y="1216154"/>
            <a:ext cx="54864" cy="296037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3465576" y="1325882"/>
            <a:ext cx="2331720" cy="180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ERREICHT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65576" y="1691641"/>
            <a:ext cx="2331720" cy="2454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Gemeinden, 3 Bemessungssysteme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BKP-API Stadt Bern (parzellenscharf)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GWR-Integration (Ist-Bebauung)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Stresstest: 96% bei 50 Adressen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Streamlit-GUI mit eigenem CSS-Design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Requirements-Engineering-Doku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Gemeinde-Massenanalyse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90488" y="1216154"/>
            <a:ext cx="2651760" cy="296037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5" name="Shape 13"/>
          <p:cNvSpPr/>
          <p:nvPr/>
        </p:nvSpPr>
        <p:spPr>
          <a:xfrm>
            <a:off x="6190488" y="1216154"/>
            <a:ext cx="54864" cy="296037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6391656" y="1325882"/>
            <a:ext cx="2331720" cy="180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GEPLANTE ERWEITERUNGEN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91656" y="1691641"/>
            <a:ext cx="2331720" cy="2454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Rangliste Top-50-Parzellen als Excel-Export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PDF-Export (Kundendossier)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Ausweitung auf weitere Kantone (z.B. Zürich)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Ausweitung auf ganze Schweiz und Lichtenstein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4320" y="44468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1A1A1A"/>
                </a:solidFill>
              </a:defRPr>
            </a:pPr>
            <a:r>
              <a:rPr lang="de-CH" sz="2800" dirty="0"/>
              <a:t>Gemeinde Thun</a:t>
            </a:r>
            <a:endParaRPr sz="2800" dirty="0"/>
          </a:p>
        </p:txBody>
      </p:sp>
      <p:sp>
        <p:nvSpPr>
          <p:cNvPr id="6" name="Rounded Rectangle 5"/>
          <p:cNvSpPr/>
          <p:nvPr/>
        </p:nvSpPr>
        <p:spPr>
          <a:xfrm>
            <a:off x="274320" y="1748791"/>
            <a:ext cx="2011680" cy="18288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2023111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A1A1A"/>
                </a:solidFill>
              </a:defRPr>
            </a:pPr>
            <a:r>
              <a:t>8534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91791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Parzellen analysiert</a:t>
            </a:r>
          </a:p>
          <a:p>
            <a:pPr algn="ctr">
              <a:defRPr sz="1000">
                <a:solidFill>
                  <a:srgbClr val="6B6B6B"/>
                </a:solidFill>
              </a:defRPr>
            </a:pPr>
            <a:r>
              <a:t>in Thun (1 Durchlauf)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1748791"/>
            <a:ext cx="2011680" cy="18288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68880" y="2023111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C81D25"/>
                </a:solidFill>
              </a:defRPr>
            </a:pPr>
            <a:r>
              <a:t>890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891791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Verdichtungs-</a:t>
            </a:r>
          </a:p>
          <a:p>
            <a:pPr algn="ctr">
              <a:defRPr sz="1000">
                <a:solidFill>
                  <a:srgbClr val="6B6B6B"/>
                </a:solidFill>
              </a:defRPr>
            </a:pPr>
            <a:r>
              <a:t>Kandidaten gefunden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748791"/>
            <a:ext cx="2011680" cy="18288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2023111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C81D25"/>
                </a:solidFill>
              </a:defRPr>
            </a:pPr>
            <a:r>
              <a:t>354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891791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Neugeschäft-</a:t>
            </a:r>
          </a:p>
          <a:p>
            <a:pPr algn="ctr">
              <a:defRPr sz="1000">
                <a:solidFill>
                  <a:srgbClr val="6B6B6B"/>
                </a:solidFill>
              </a:defRPr>
            </a:pPr>
            <a:r>
              <a:t>Kandidaten (leeres Bauland)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1748791"/>
            <a:ext cx="2011680" cy="18288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0" y="2023111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C81D25"/>
                </a:solidFill>
              </a:defRPr>
            </a:pPr>
            <a:r>
              <a:t>196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891791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B6B6B"/>
                </a:solidFill>
              </a:defRPr>
            </a:pPr>
            <a:r>
              <a:t>Ersatzneubau-</a:t>
            </a:r>
          </a:p>
          <a:p>
            <a:pPr algn="ctr">
              <a:defRPr sz="1000">
                <a:solidFill>
                  <a:srgbClr val="6B6B6B"/>
                </a:solidFill>
              </a:defRPr>
            </a:pPr>
            <a:r>
              <a:t>Kandidaten (alte Substanz)</a:t>
            </a:r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D1E6CF7E-FEDB-3316-B22F-D4F89CF44F66}"/>
              </a:ext>
            </a:extLst>
          </p:cNvPr>
          <p:cNvSpPr/>
          <p:nvPr/>
        </p:nvSpPr>
        <p:spPr>
          <a:xfrm>
            <a:off x="841248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09A01043-2F5F-1ADA-B7B8-87D6AF939DA8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46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ea typeface="Trebuchet MS" pitchFamily="34" charset="-122"/>
                <a:cs typeface="Trebuchet MS" pitchFamily="34" charset="-120"/>
              </a:rPr>
              <a:t>Wer hat was gemacht?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8404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4864" cy="23317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658368" y="12070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8368" y="1572768"/>
            <a:ext cx="352044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Backend-Entwicklung (Python-Pipeline)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OEREB-, BKP- und GWR-Integration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Potenzialberechnung &amp; Drei-Systeme-Modell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Reglement-Daten (Bern, Thun, Oberhofen)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Bug-Fixes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54864" cy="23317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4864608" y="12070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FABIENNE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64608" y="1572768"/>
            <a:ext cx="365760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Streamlit-GUI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Requirements-Engineering &amp; Dokumentation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Anforderungs- &amp; Release-Dokumente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GUI-Testing &amp; Feldnamen-Mapping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Präsentation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84448"/>
            <a:ext cx="384048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658368" y="3675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Was gut klappte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4005072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Klare Aufgabenteilung Backend / Frontend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Iteratives Vorgehen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Projekt-Review durch Fachpersonen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584448"/>
            <a:ext cx="40233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4864608" y="3675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Was nicht so gut klappte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64608" y="400507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Feldnamen-Interface nicht synchronisiert → Mapping-Aufwand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Backend-Stabilität Voraussetzung für GUI-Tests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37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ea typeface="Trebuchet MS" pitchFamily="34" charset="-122"/>
                <a:cs typeface="Trebuchet MS" pitchFamily="34" charset="-120"/>
              </a:rPr>
              <a:t>Was haben wir gelernt?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64108"/>
            <a:ext cx="39776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7" name="Shape 5"/>
          <p:cNvSpPr/>
          <p:nvPr/>
        </p:nvSpPr>
        <p:spPr>
          <a:xfrm>
            <a:off x="457200" y="864108"/>
            <a:ext cx="502920" cy="1600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457200" y="14127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078992" y="10012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Echte APIs sind unberechenbar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8992" y="13030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OEREB, BKP und GWR liefern je eigene Eigenheiten – defensive Programmierung ist Pflicht.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864108"/>
            <a:ext cx="39776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2" name="Shape 10"/>
          <p:cNvSpPr/>
          <p:nvPr/>
        </p:nvSpPr>
        <p:spPr>
          <a:xfrm>
            <a:off x="4663440" y="864108"/>
            <a:ext cx="502920" cy="1600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4663440" y="14127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285232" y="10012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Datenqualität kommunizieren ist Design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85232" y="13030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VERBINDLICH / GROBSCHÄTZUNG / NICHT MÖGLICH schützt Nutzer vor falschen Entscheidungen.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74620"/>
            <a:ext cx="39776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7" name="Shape 15"/>
          <p:cNvSpPr/>
          <p:nvPr/>
        </p:nvSpPr>
        <p:spPr>
          <a:xfrm>
            <a:off x="457200" y="2674620"/>
            <a:ext cx="502920" cy="1600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457200" y="32232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78992" y="32689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674620"/>
            <a:ext cx="39776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2" name="Shape 20"/>
          <p:cNvSpPr/>
          <p:nvPr/>
        </p:nvSpPr>
        <p:spPr>
          <a:xfrm>
            <a:off x="4663440" y="2674620"/>
            <a:ext cx="502920" cy="1600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Text 21"/>
          <p:cNvSpPr/>
          <p:nvPr/>
        </p:nvSpPr>
        <p:spPr>
          <a:xfrm>
            <a:off x="4663440" y="32232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5285232" y="28117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Requirements-Engineering als Qualitätscheck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0" y="30678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Implizite Annahmen explizit machen deckt blinde Flecken auf, bevor Code geschrieben wird.</a:t>
            </a:r>
            <a:endParaRPr lang="en-US" sz="1100" dirty="0"/>
          </a:p>
        </p:txBody>
      </p:sp>
      <p:sp>
        <p:nvSpPr>
          <p:cNvPr id="27" name="TextBox 26"/>
          <p:cNvSpPr txBox="1"/>
          <p:nvPr/>
        </p:nvSpPr>
        <p:spPr>
          <a:xfrm>
            <a:off x="1005840" y="2775035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1A"/>
                </a:solidFill>
              </a:defRPr>
            </a:pPr>
            <a:r>
              <a:rPr dirty="0"/>
              <a:t>Tool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Indikator</a:t>
            </a:r>
            <a:r>
              <a:rPr dirty="0"/>
              <a:t>, </a:t>
            </a:r>
            <a:r>
              <a:rPr dirty="0" err="1"/>
              <a:t>nicht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Architekt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304268"/>
            <a:ext cx="3200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rPr lang="de-CH" sz="1100" dirty="0"/>
              <a:t>E</a:t>
            </a:r>
            <a:r>
              <a:rPr sz="1100" dirty="0" err="1"/>
              <a:t>rkenntnis</a:t>
            </a:r>
            <a:r>
              <a:rPr sz="1100" dirty="0"/>
              <a:t>: "Kein </a:t>
            </a:r>
            <a:r>
              <a:rPr sz="1100" dirty="0" err="1"/>
              <a:t>Generalrezept</a:t>
            </a:r>
            <a:r>
              <a:rPr sz="1100" dirty="0"/>
              <a:t>" </a:t>
            </a:r>
            <a:r>
              <a:rPr sz="1100" dirty="0" err="1"/>
              <a:t>im</a:t>
            </a:r>
            <a:r>
              <a:rPr sz="1100" dirty="0"/>
              <a:t> </a:t>
            </a:r>
            <a:r>
              <a:rPr sz="1100" dirty="0" err="1"/>
              <a:t>Höhensystem</a:t>
            </a:r>
            <a:r>
              <a:rPr lang="de-CH" sz="1100" dirty="0"/>
              <a:t>. Alles verifiziert durch Fachpersonen</a:t>
            </a:r>
            <a:endParaRPr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777240" y="21031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Danke für eure Zeit!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94360" y="26060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12064" y="446421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 ist der Bauzonen-Radar?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29285"/>
            <a:ext cx="3840480" cy="272224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7" name="Shape 5"/>
          <p:cNvSpPr/>
          <p:nvPr/>
        </p:nvSpPr>
        <p:spPr>
          <a:xfrm>
            <a:off x="457200" y="1529285"/>
            <a:ext cx="54864" cy="2722245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658368" y="1639013"/>
            <a:ext cx="3474720" cy="165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1968197"/>
            <a:ext cx="3520440" cy="2290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wissen will, was auf einer Schweizer Parzelle gebaut werden darf, muss: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Parzellennummer suchen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OEREB-Auszug studieren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Gemeinde-Baureglement lesen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Kennzahlen berechnen (AZ, GFZo, Höhen)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Bauklassenplan konsultieren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Spezialwissen, das Stunden kostet.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529285"/>
            <a:ext cx="4023360" cy="272224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4663440" y="1529285"/>
            <a:ext cx="54864" cy="2722245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4864608" y="1639013"/>
            <a:ext cx="3474720" cy="165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LÖSUNG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64608" y="1968197"/>
            <a:ext cx="3657600" cy="2290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eingeben → Potenzial raus.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Geocoding via swisstopo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OEREB-Datenabruf automatisch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Bemessungssysteme (AZ / GFZo / Höhen)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BKP-API Stadt Bern (parzellenscharf)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GWR: effektive Ist-Bebauung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Datenqualitäts-Ampel: VERBINDLICH / GROBSCHÄTZUNG / NICHT MÖGLICH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Streamlit-GUI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GWR-Integration: Soll vs. Ist &amp; Plausibilitäts-Konflikt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243203"/>
            <a:ext cx="4114800" cy="2948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macht gwr.py?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Zwei-Stufen-Abfrage über api3.geo.admin.ch: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SearchAPI: Adresse → featureId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MapServer: featureId → Gebäudedaten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Parzelle: Grundfläche, Geschosse, Wohnungen, Baujahr.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Mehrwert: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GWR-Ist &gt; Schaetzungs-Soll → Plausibilitäts-Konflikt sichtbar.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 Frutigenstrasse 25, Thun: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Soll (Schätzung):   1 080 m²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 (GWR):           1 520 m²  ← Konflikt!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3749040" cy="352425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4983480" y="12527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datenquellen/gwr.py (vereinfacht)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983480" y="1572768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hole_gwr_gebaeude</a:t>
            </a: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(adresse, egrid):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1. Adresse → featureId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feature_id = </a:t>
            </a: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_search_feature</a:t>
            </a: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(adresse)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2. Details laden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gebaeude = </a:t>
            </a: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_get_details</a:t>
            </a: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(feature_id)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3. EGRID-Filter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[g </a:t>
            </a:r>
            <a:r>
              <a:rPr lang="en-US" sz="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</a:t>
            </a:r>
            <a:r>
              <a:rPr lang="en-US" sz="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gebaeude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g.egrid == egrid]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Drei-Begrenzer (potenzial.py):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grundflaeche = </a:t>
            </a: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geometrie,  # Gebäudelänge × Tiefe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parzelle,   # Fläche − Grenzabstand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gz          # Grünflächenziffer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Konflikt-Check: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gwr_ist &gt; soll * </a:t>
            </a:r>
            <a:r>
              <a:rPr lang="en-US" sz="9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Konflikt-Box anzeigen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605C4C7-F72B-47A4-B6A1-5FBEF427F1A3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6a855b38-699e-48ac-b025-7d76dfcda84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999</Words>
  <Application>Microsoft Office PowerPoint</Application>
  <PresentationFormat>Bildschirmpräsentation (16:9)</PresentationFormat>
  <Paragraphs>285</Paragraphs>
  <Slides>14</Slides>
  <Notes>14</Notes>
  <HiddenSlides>2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Trebuchet MS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Bauzonen-Radar – Abschlusspräsentation</dc:title>
  <dc:subject>PptxGenJS Presentation</dc:subject>
  <dc:creator>PptxGenJS</dc:creator>
  <cp:lastModifiedBy>Christophe Jenzer</cp:lastModifiedBy>
  <cp:revision>17</cp:revision>
  <dcterms:created xsi:type="dcterms:W3CDTF">2026-05-31T20:00:24Z</dcterms:created>
  <dcterms:modified xsi:type="dcterms:W3CDTF">2026-06-12T18:25:40Z</dcterms:modified>
</cp:coreProperties>
</file>